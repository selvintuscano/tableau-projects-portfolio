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10287000" cx="18288000"/>
  <p:notesSz cx="6858000" cy="9144000"/>
  <p:embeddedFontLst>
    <p:embeddedFont>
      <p:font typeface="Fira Sans Medium"/>
      <p:regular r:id="rId17"/>
      <p:bold r:id="rId18"/>
      <p:italic r:id="rId19"/>
      <p:boldItalic r:id="rId20"/>
    </p:embeddedFont>
    <p:embeddedFont>
      <p:font typeface="Fira Sans SemiBold"/>
      <p:regular r:id="rId21"/>
      <p:bold r:id="rId22"/>
      <p:italic r:id="rId23"/>
      <p:boldItalic r:id="rId24"/>
    </p:embeddedFont>
    <p:embeddedFont>
      <p:font typeface="Fira Sans"/>
      <p:bold r:id="rId25"/>
      <p:boldItalic r:id="rId26"/>
    </p:embeddedFont>
    <p:embeddedFont>
      <p:font typeface="Fira Sans Light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jrQlcxMoEUEeYFnfZfjLoqDq2D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iraSansMedium-boldItalic.fntdata"/><Relationship Id="rId22" Type="http://schemas.openxmlformats.org/officeDocument/2006/relationships/font" Target="fonts/FiraSansSemiBold-bold.fntdata"/><Relationship Id="rId21" Type="http://schemas.openxmlformats.org/officeDocument/2006/relationships/font" Target="fonts/FiraSansSemiBold-regular.fntdata"/><Relationship Id="rId24" Type="http://schemas.openxmlformats.org/officeDocument/2006/relationships/font" Target="fonts/FiraSansSemiBold-boldItalic.fntdata"/><Relationship Id="rId23" Type="http://schemas.openxmlformats.org/officeDocument/2006/relationships/font" Target="fonts/FiraSansSemiBol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FiraSans-boldItalic.fntdata"/><Relationship Id="rId25" Type="http://schemas.openxmlformats.org/officeDocument/2006/relationships/font" Target="fonts/FiraSans-bold.fntdata"/><Relationship Id="rId28" Type="http://schemas.openxmlformats.org/officeDocument/2006/relationships/font" Target="fonts/FiraSansLight-bold.fntdata"/><Relationship Id="rId27" Type="http://schemas.openxmlformats.org/officeDocument/2006/relationships/font" Target="fonts/FiraSansLigh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FiraSansLigh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font" Target="fonts/FiraSansLight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FiraSansMedium-regular.fntdata"/><Relationship Id="rId16" Type="http://schemas.openxmlformats.org/officeDocument/2006/relationships/slide" Target="slides/slide11.xml"/><Relationship Id="rId19" Type="http://schemas.openxmlformats.org/officeDocument/2006/relationships/font" Target="fonts/FiraSansMedium-italic.fntdata"/><Relationship Id="rId18" Type="http://schemas.openxmlformats.org/officeDocument/2006/relationships/font" Target="fonts/FiraSans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4328902" y="2317173"/>
            <a:ext cx="7321033" cy="6340049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004651"/>
          </a:solid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2122944" y="7035126"/>
            <a:ext cx="4970154" cy="4304177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00A181"/>
          </a:solid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>
            <a:off x="12336342" y="5954842"/>
            <a:ext cx="2271679" cy="1967285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A4E473"/>
          </a:solid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>
            <a:off x="13737770" y="373605"/>
            <a:ext cx="3799619" cy="3290488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00A181"/>
          </a:solid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>
            <a:off x="412644" y="373605"/>
            <a:ext cx="3097271" cy="1449523"/>
          </a:xfrm>
          <a:custGeom>
            <a:rect b="b" l="l" r="r" t="t"/>
            <a:pathLst>
              <a:path extrusionOk="0" h="1449523" w="3097271">
                <a:moveTo>
                  <a:pt x="0" y="0"/>
                </a:moveTo>
                <a:lnTo>
                  <a:pt x="3097271" y="0"/>
                </a:lnTo>
                <a:lnTo>
                  <a:pt x="3097271" y="1449523"/>
                </a:lnTo>
                <a:lnTo>
                  <a:pt x="0" y="14495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9" name="Google Shape;89;p1"/>
          <p:cNvGrpSpPr/>
          <p:nvPr/>
        </p:nvGrpSpPr>
        <p:grpSpPr>
          <a:xfrm>
            <a:off x="876424" y="3292658"/>
            <a:ext cx="12595757" cy="4559345"/>
            <a:chOff x="0" y="0"/>
            <a:chExt cx="16794343" cy="6079127"/>
          </a:xfrm>
        </p:grpSpPr>
        <p:sp>
          <p:nvSpPr>
            <p:cNvPr id="90" name="Google Shape;90;p1"/>
            <p:cNvSpPr txBox="1"/>
            <p:nvPr/>
          </p:nvSpPr>
          <p:spPr>
            <a:xfrm>
              <a:off x="0" y="0"/>
              <a:ext cx="16794343" cy="50612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315" u="none" cap="none" strike="noStrike">
                  <a:solidFill>
                    <a:srgbClr val="004651"/>
                  </a:solidFill>
                  <a:latin typeface="Fira Sans"/>
                  <a:ea typeface="Fira Sans"/>
                  <a:cs typeface="Fira Sans"/>
                  <a:sym typeface="Fira Sans"/>
                </a:rPr>
                <a:t>Global Partners – Q1 2024 Business Intelligence Report</a:t>
              </a:r>
              <a:endParaRPr/>
            </a:p>
          </p:txBody>
        </p:sp>
        <p:sp>
          <p:nvSpPr>
            <p:cNvPr id="91" name="Google Shape;91;p1"/>
            <p:cNvSpPr txBox="1"/>
            <p:nvPr/>
          </p:nvSpPr>
          <p:spPr>
            <a:xfrm>
              <a:off x="1" y="5373227"/>
              <a:ext cx="16794300" cy="70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440" u="none" cap="none" strike="noStrike">
                  <a:solidFill>
                    <a:srgbClr val="00A181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Customer Orders, Performance &amp; Regional Insights</a:t>
              </a:r>
              <a:endParaRPr/>
            </a:p>
          </p:txBody>
        </p:sp>
      </p:grpSp>
      <p:sp>
        <p:nvSpPr>
          <p:cNvPr id="92" name="Google Shape;92;p1"/>
          <p:cNvSpPr txBox="1"/>
          <p:nvPr/>
        </p:nvSpPr>
        <p:spPr>
          <a:xfrm>
            <a:off x="8277633" y="9191625"/>
            <a:ext cx="4058709" cy="580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A6A6A6"/>
                </a:solidFill>
                <a:latin typeface="Fira Sans"/>
                <a:ea typeface="Fira Sans"/>
                <a:cs typeface="Fira Sans"/>
                <a:sym typeface="Fira Sans"/>
              </a:rPr>
              <a:t>Selvin Tuscano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65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>
            <a:off x="-2527743" y="-89986"/>
            <a:ext cx="10138115" cy="8779655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00A181"/>
          </a:solidFill>
          <a:ln>
            <a:noFill/>
          </a:ln>
        </p:spPr>
      </p:sp>
      <p:sp>
        <p:nvSpPr>
          <p:cNvPr id="98" name="Google Shape;98;p2"/>
          <p:cNvSpPr/>
          <p:nvPr/>
        </p:nvSpPr>
        <p:spPr>
          <a:xfrm>
            <a:off x="2505679" y="5832746"/>
            <a:ext cx="5966980" cy="5167433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A4E473"/>
          </a:solidFill>
          <a:ln>
            <a:noFill/>
          </a:ln>
        </p:spPr>
      </p:sp>
      <p:sp>
        <p:nvSpPr>
          <p:cNvPr id="99" name="Google Shape;99;p2"/>
          <p:cNvSpPr txBox="1"/>
          <p:nvPr/>
        </p:nvSpPr>
        <p:spPr>
          <a:xfrm>
            <a:off x="1028700" y="4081194"/>
            <a:ext cx="4460469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99" u="none" cap="none" strike="noStrike">
                <a:solidFill>
                  <a:srgbClr val="F4F4F4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Agenda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10194701" y="2673615"/>
            <a:ext cx="610932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2260" lvl="1" marL="604519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F4F4F4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Executive Summary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10194701" y="3387846"/>
            <a:ext cx="610932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2260" lvl="1" marL="604519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F4F4F4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Sales &amp; Profit Trends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10194701" y="1963685"/>
            <a:ext cx="610932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2260" lvl="1" marL="604519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F4F4F4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Introduction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10194701" y="4097776"/>
            <a:ext cx="610932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2260" lvl="1" marL="604519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F4F4F4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Category Performance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10194701" y="4812007"/>
            <a:ext cx="610932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2260" lvl="1" marL="604519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F4F4F4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Regional Performance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10194701" y="5526238"/>
            <a:ext cx="610932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2260" lvl="1" marL="604519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F4F4F4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Customer Segmentation &amp; Loyalty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10194701" y="6240469"/>
            <a:ext cx="610932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2260" lvl="1" marL="604519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F4F4F4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Customer Performance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10194701" y="7664774"/>
            <a:ext cx="610932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2260" lvl="1" marL="604519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F4F4F4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Recommendations</a:t>
            </a: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412644" y="373605"/>
            <a:ext cx="1801453" cy="843080"/>
          </a:xfrm>
          <a:custGeom>
            <a:rect b="b" l="l" r="r" t="t"/>
            <a:pathLst>
              <a:path extrusionOk="0" h="843080" w="1801453">
                <a:moveTo>
                  <a:pt x="0" y="0"/>
                </a:moveTo>
                <a:lnTo>
                  <a:pt x="1801453" y="0"/>
                </a:lnTo>
                <a:lnTo>
                  <a:pt x="1801453" y="843080"/>
                </a:lnTo>
                <a:lnTo>
                  <a:pt x="0" y="8430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2"/>
          <p:cNvSpPr txBox="1"/>
          <p:nvPr/>
        </p:nvSpPr>
        <p:spPr>
          <a:xfrm>
            <a:off x="10194701" y="6950399"/>
            <a:ext cx="610932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2260" lvl="1" marL="604519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F4F4F4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Management Accountabilty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/>
          <p:nvPr/>
        </p:nvSpPr>
        <p:spPr>
          <a:xfrm>
            <a:off x="14151770" y="4201140"/>
            <a:ext cx="7027514" cy="6085860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004651"/>
          </a:solidFill>
          <a:ln>
            <a:noFill/>
          </a:ln>
        </p:spPr>
      </p:sp>
      <p:sp>
        <p:nvSpPr>
          <p:cNvPr id="115" name="Google Shape;115;p3"/>
          <p:cNvSpPr/>
          <p:nvPr/>
        </p:nvSpPr>
        <p:spPr>
          <a:xfrm>
            <a:off x="9859850" y="563974"/>
            <a:ext cx="4961246" cy="4296462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00A181"/>
          </a:solidFill>
          <a:ln>
            <a:noFill/>
          </a:ln>
        </p:spPr>
      </p:sp>
      <p:sp>
        <p:nvSpPr>
          <p:cNvPr id="116" name="Google Shape;116;p3"/>
          <p:cNvSpPr txBox="1"/>
          <p:nvPr/>
        </p:nvSpPr>
        <p:spPr>
          <a:xfrm>
            <a:off x="412644" y="1947135"/>
            <a:ext cx="9447206" cy="6810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6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41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This report provides a comprehensive business intelligence review of Global Partners’ performance in Q1 2024, based on Tableau dashboards.</a:t>
            </a:r>
            <a:endParaRPr/>
          </a:p>
          <a:p>
            <a:pPr indent="0" lvl="0" marL="0" marR="0" rtl="0" algn="l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41" u="none" cap="none" strike="noStrik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41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The analysis covers:</a:t>
            </a:r>
            <a:endParaRPr/>
          </a:p>
          <a:p>
            <a:pPr indent="-285155" lvl="1" marL="570310" marR="0" rtl="0" algn="l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41"/>
              <a:buFont typeface="Arial"/>
              <a:buChar char="•"/>
            </a:pPr>
            <a:r>
              <a:rPr b="0" i="0" lang="en-US" sz="2641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Overall performance KPIs (Sales, Profit, Customers, Orders).</a:t>
            </a:r>
            <a:endParaRPr/>
          </a:p>
          <a:p>
            <a:pPr indent="-285155" lvl="1" marL="570310" marR="0" rtl="0" algn="l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41"/>
              <a:buFont typeface="Arial"/>
              <a:buChar char="•"/>
            </a:pPr>
            <a:r>
              <a:rPr b="0" i="0" lang="en-US" sz="2641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Sales &amp; profit trends over time.</a:t>
            </a:r>
            <a:endParaRPr/>
          </a:p>
          <a:p>
            <a:pPr indent="-285155" lvl="1" marL="570310" marR="0" rtl="0" algn="l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41"/>
              <a:buFont typeface="Arial"/>
              <a:buChar char="•"/>
            </a:pPr>
            <a:r>
              <a:rPr b="0" i="0" lang="en-US" sz="2641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Product category and regional performance.</a:t>
            </a:r>
            <a:endParaRPr/>
          </a:p>
          <a:p>
            <a:pPr indent="-285155" lvl="1" marL="570310" marR="0" rtl="0" algn="l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41"/>
              <a:buFont typeface="Arial"/>
              <a:buChar char="•"/>
            </a:pPr>
            <a:r>
              <a:rPr b="0" i="0" lang="en-US" sz="2641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Customer segmentation, loyalty, and top customer insights.</a:t>
            </a:r>
            <a:endParaRPr/>
          </a:p>
          <a:p>
            <a:pPr indent="-285155" lvl="1" marL="570310" marR="0" rtl="0" algn="l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41"/>
              <a:buFont typeface="Arial"/>
              <a:buChar char="•"/>
            </a:pPr>
            <a:r>
              <a:rPr b="0" i="0" lang="en-US" sz="2641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Management accountability in driving sales outcomes.</a:t>
            </a:r>
            <a:endParaRPr/>
          </a:p>
          <a:p>
            <a:pPr indent="0" lvl="0" marL="0" marR="0" rtl="0" algn="l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41" u="none" cap="none" strike="noStrik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marR="0" rtl="0" algn="l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41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Objective:</a:t>
            </a:r>
            <a:endParaRPr/>
          </a:p>
          <a:p>
            <a:pPr indent="0" lvl="0" marL="0" marR="0" rtl="0" algn="l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41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To convert raw performance data into actionable insights that support decision-making on growth opportunities, risk areas, and strategic priorities.</a:t>
            </a:r>
            <a:endParaRPr/>
          </a:p>
          <a:p>
            <a:pPr indent="0" lvl="0" marL="0" marR="0" rtl="0" algn="l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41" u="none" cap="none" strike="noStrik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16184503" y="373605"/>
            <a:ext cx="1801453" cy="843080"/>
          </a:xfrm>
          <a:custGeom>
            <a:rect b="b" l="l" r="r" t="t"/>
            <a:pathLst>
              <a:path extrusionOk="0" h="843080" w="1801453">
                <a:moveTo>
                  <a:pt x="0" y="0"/>
                </a:moveTo>
                <a:lnTo>
                  <a:pt x="1801452" y="0"/>
                </a:lnTo>
                <a:lnTo>
                  <a:pt x="1801452" y="843080"/>
                </a:lnTo>
                <a:lnTo>
                  <a:pt x="0" y="8430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8" name="Google Shape;118;p3"/>
          <p:cNvSpPr txBox="1"/>
          <p:nvPr/>
        </p:nvSpPr>
        <p:spPr>
          <a:xfrm>
            <a:off x="412644" y="519017"/>
            <a:ext cx="5988156" cy="1229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15" u="none" cap="none" strike="noStrike">
                <a:solidFill>
                  <a:srgbClr val="A4E473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10771465" y="2429725"/>
            <a:ext cx="6760610" cy="5854720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A4E473"/>
          </a:solidFill>
          <a:ln>
            <a:noFill/>
          </a:ln>
        </p:spPr>
      </p:sp>
      <p:sp>
        <p:nvSpPr>
          <p:cNvPr id="120" name="Google Shape;120;p3"/>
          <p:cNvSpPr txBox="1"/>
          <p:nvPr/>
        </p:nvSpPr>
        <p:spPr>
          <a:xfrm>
            <a:off x="5953542" y="9728297"/>
            <a:ext cx="6380917" cy="5587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28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Global Partners | Confidential Information | For Internal use only</a:t>
            </a:r>
            <a:endParaRPr/>
          </a:p>
          <a:p>
            <a:pPr indent="0" lvl="0" marL="0" marR="0" rtl="0" algn="ctr">
              <a:lnSpc>
                <a:spcPct val="1400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28" u="none" cap="none" strike="noStrike">
              <a:solidFill>
                <a:srgbClr val="A6A6A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 txBox="1"/>
          <p:nvPr/>
        </p:nvSpPr>
        <p:spPr>
          <a:xfrm>
            <a:off x="312099" y="1502940"/>
            <a:ext cx="5170677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518356" lvl="1" marL="1036713" marR="0" rtl="0" algn="ctr">
              <a:lnSpc>
                <a:spcPct val="120016"/>
              </a:lnSpc>
              <a:spcBef>
                <a:spcPts val="0"/>
              </a:spcBef>
              <a:spcAft>
                <a:spcPts val="0"/>
              </a:spcAft>
              <a:buClr>
                <a:srgbClr val="00A181"/>
              </a:buClr>
              <a:buSzPts val="4801"/>
              <a:buFont typeface="Arial"/>
              <a:buChar char="•"/>
            </a:pPr>
            <a:r>
              <a:rPr b="1" i="0" lang="en-US" sz="4801" u="none" cap="none" strike="noStrike">
                <a:solidFill>
                  <a:srgbClr val="00A18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Key metrics</a:t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 rot="5177109">
            <a:off x="15037485" y="9831713"/>
            <a:ext cx="2404713" cy="2082493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004651"/>
          </a:solidFill>
          <a:ln>
            <a:noFill/>
          </a:ln>
        </p:spPr>
      </p:sp>
      <p:sp>
        <p:nvSpPr>
          <p:cNvPr id="127" name="Google Shape;127;p4"/>
          <p:cNvSpPr/>
          <p:nvPr/>
        </p:nvSpPr>
        <p:spPr>
          <a:xfrm>
            <a:off x="15723858" y="-329783"/>
            <a:ext cx="3392946" cy="2938307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00A181"/>
          </a:solidFill>
          <a:ln>
            <a:noFill/>
          </a:ln>
        </p:spPr>
      </p:sp>
      <p:sp>
        <p:nvSpPr>
          <p:cNvPr id="128" name="Google Shape;128;p4"/>
          <p:cNvSpPr/>
          <p:nvPr/>
        </p:nvSpPr>
        <p:spPr>
          <a:xfrm rot="5177109">
            <a:off x="15853918" y="7586722"/>
            <a:ext cx="3392946" cy="2938307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00A181"/>
          </a:solidFill>
          <a:ln>
            <a:noFill/>
          </a:ln>
        </p:spPr>
      </p:sp>
      <p:sp>
        <p:nvSpPr>
          <p:cNvPr id="129" name="Google Shape;129;p4"/>
          <p:cNvSpPr/>
          <p:nvPr/>
        </p:nvSpPr>
        <p:spPr>
          <a:xfrm>
            <a:off x="15662164" y="-347812"/>
            <a:ext cx="2003854" cy="1735347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A4E473"/>
          </a:solidFill>
          <a:ln>
            <a:noFill/>
          </a:ln>
        </p:spPr>
      </p:sp>
      <p:sp>
        <p:nvSpPr>
          <p:cNvPr id="130" name="Google Shape;130;p4"/>
          <p:cNvSpPr/>
          <p:nvPr/>
        </p:nvSpPr>
        <p:spPr>
          <a:xfrm>
            <a:off x="551621" y="5046750"/>
            <a:ext cx="4691634" cy="5013742"/>
          </a:xfrm>
          <a:custGeom>
            <a:rect b="b" l="l" r="r" t="t"/>
            <a:pathLst>
              <a:path extrusionOk="0" h="5013742" w="4691634">
                <a:moveTo>
                  <a:pt x="0" y="0"/>
                </a:moveTo>
                <a:lnTo>
                  <a:pt x="4691634" y="0"/>
                </a:lnTo>
                <a:lnTo>
                  <a:pt x="4691634" y="5013742"/>
                </a:lnTo>
                <a:lnTo>
                  <a:pt x="0" y="50137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378" l="0" r="0" t="-6447"/>
            </a:stretch>
          </a:blipFill>
          <a:ln>
            <a:noFill/>
          </a:ln>
        </p:spPr>
      </p:sp>
      <p:sp>
        <p:nvSpPr>
          <p:cNvPr id="131" name="Google Shape;131;p4"/>
          <p:cNvSpPr/>
          <p:nvPr/>
        </p:nvSpPr>
        <p:spPr>
          <a:xfrm>
            <a:off x="434506" y="2422103"/>
            <a:ext cx="14688375" cy="976051"/>
          </a:xfrm>
          <a:custGeom>
            <a:rect b="b" l="l" r="r" t="t"/>
            <a:pathLst>
              <a:path extrusionOk="0" h="976051" w="14688375">
                <a:moveTo>
                  <a:pt x="0" y="0"/>
                </a:moveTo>
                <a:lnTo>
                  <a:pt x="14688375" y="0"/>
                </a:lnTo>
                <a:lnTo>
                  <a:pt x="14688375" y="976051"/>
                </a:lnTo>
                <a:lnTo>
                  <a:pt x="0" y="9760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32" name="Google Shape;132;p4"/>
          <p:cNvGrpSpPr/>
          <p:nvPr/>
        </p:nvGrpSpPr>
        <p:grpSpPr>
          <a:xfrm>
            <a:off x="551621" y="274272"/>
            <a:ext cx="10263163" cy="1251856"/>
            <a:chOff x="0" y="-9525"/>
            <a:chExt cx="13684218" cy="1669141"/>
          </a:xfrm>
        </p:grpSpPr>
        <p:sp>
          <p:nvSpPr>
            <p:cNvPr id="133" name="Google Shape;133;p4"/>
            <p:cNvSpPr txBox="1"/>
            <p:nvPr/>
          </p:nvSpPr>
          <p:spPr>
            <a:xfrm>
              <a:off x="0" y="1290035"/>
              <a:ext cx="13684218" cy="3695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90" u="none" cap="none" strike="noStrike">
                  <a:solidFill>
                    <a:srgbClr val="F4F4F4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Support it with a brief explanation.</a:t>
              </a:r>
              <a:endParaRPr/>
            </a:p>
          </p:txBody>
        </p:sp>
        <p:sp>
          <p:nvSpPr>
            <p:cNvPr id="134" name="Google Shape;134;p4"/>
            <p:cNvSpPr txBox="1"/>
            <p:nvPr/>
          </p:nvSpPr>
          <p:spPr>
            <a:xfrm>
              <a:off x="0" y="-9525"/>
              <a:ext cx="13684218" cy="10763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272" u="none" cap="none" strike="noStrike">
                  <a:solidFill>
                    <a:srgbClr val="004651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Executive Summary 2024 - QTR 1</a:t>
              </a:r>
              <a:endParaRPr/>
            </a:p>
          </p:txBody>
        </p:sp>
      </p:grpSp>
      <p:grpSp>
        <p:nvGrpSpPr>
          <p:cNvPr id="135" name="Google Shape;135;p4"/>
          <p:cNvGrpSpPr/>
          <p:nvPr/>
        </p:nvGrpSpPr>
        <p:grpSpPr>
          <a:xfrm>
            <a:off x="5722298" y="4294875"/>
            <a:ext cx="9541824" cy="4963426"/>
            <a:chOff x="0" y="-9525"/>
            <a:chExt cx="12722432" cy="6617900"/>
          </a:xfrm>
        </p:grpSpPr>
        <p:sp>
          <p:nvSpPr>
            <p:cNvPr id="136" name="Google Shape;136;p4"/>
            <p:cNvSpPr txBox="1"/>
            <p:nvPr/>
          </p:nvSpPr>
          <p:spPr>
            <a:xfrm>
              <a:off x="0" y="-9525"/>
              <a:ext cx="12722432" cy="733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4"/>
            <p:cNvSpPr txBox="1"/>
            <p:nvPr/>
          </p:nvSpPr>
          <p:spPr>
            <a:xfrm>
              <a:off x="0" y="1064824"/>
              <a:ext cx="12722432" cy="55435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323848" lvl="1" marL="647695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Char char="•"/>
              </a:pPr>
              <a:r>
                <a:rPr b="0" i="0" lang="en-US" sz="2999" u="none" cap="none" strike="noStrike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Sales steadily declined from $26K in January → $7K in April, showing early demand risks.</a:t>
              </a:r>
              <a:endParaRPr/>
            </a:p>
            <a:p>
              <a:pPr indent="-323848" lvl="1" marL="647695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Char char="•"/>
              </a:pPr>
              <a:r>
                <a:rPr b="0" i="0" lang="en-US" sz="2999" u="none" cap="none" strike="noStrike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Despite revenue drop, margins improved in March (16.97%), reflecting operational efficiency.</a:t>
              </a:r>
              <a:endParaRPr/>
            </a:p>
            <a:p>
              <a:pPr indent="-323848" lvl="1" marL="647695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Char char="•"/>
              </a:pPr>
              <a:r>
                <a:rPr b="0" i="0" lang="en-US" sz="2999" u="none" cap="none" strike="noStrike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Q1 started volume-strong, but demand has clearly softened over time.</a:t>
              </a:r>
              <a:endParaRPr/>
            </a:p>
            <a:p>
              <a:pPr indent="0" lvl="0" marL="0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999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  <a:p>
              <a:pPr indent="0" lvl="0" marL="0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999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sp>
        <p:nvSpPr>
          <p:cNvPr id="138" name="Google Shape;138;p4"/>
          <p:cNvSpPr txBox="1"/>
          <p:nvPr/>
        </p:nvSpPr>
        <p:spPr>
          <a:xfrm>
            <a:off x="434506" y="3921019"/>
            <a:ext cx="4691634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529151" lvl="1" marL="1058303" marR="0" rtl="0" algn="ctr">
              <a:lnSpc>
                <a:spcPct val="120016"/>
              </a:lnSpc>
              <a:spcBef>
                <a:spcPts val="0"/>
              </a:spcBef>
              <a:spcAft>
                <a:spcPts val="0"/>
              </a:spcAft>
              <a:buClr>
                <a:srgbClr val="00A181"/>
              </a:buClr>
              <a:buSzPts val="4901"/>
              <a:buFont typeface="Arial"/>
              <a:buChar char="•"/>
            </a:pPr>
            <a:r>
              <a:rPr b="1" i="0" lang="en-US" sz="4901" u="none" cap="none" strike="noStrike">
                <a:solidFill>
                  <a:srgbClr val="00A18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Key trends</a:t>
            </a:r>
            <a:endParaRPr/>
          </a:p>
        </p:txBody>
      </p:sp>
      <p:sp>
        <p:nvSpPr>
          <p:cNvPr id="139" name="Google Shape;139;p4"/>
          <p:cNvSpPr txBox="1"/>
          <p:nvPr/>
        </p:nvSpPr>
        <p:spPr>
          <a:xfrm>
            <a:off x="5953542" y="9728297"/>
            <a:ext cx="6380917" cy="5587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28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Global Partners | Confidential Information | For Internal use only</a:t>
            </a:r>
            <a:endParaRPr/>
          </a:p>
          <a:p>
            <a:pPr indent="0" lvl="0" marL="0" marR="0" rtl="0" algn="ctr">
              <a:lnSpc>
                <a:spcPct val="1400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28" u="none" cap="none" strike="noStrike">
              <a:solidFill>
                <a:srgbClr val="A6A6A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14187346" y="281416"/>
            <a:ext cx="1462802" cy="684592"/>
          </a:xfrm>
          <a:custGeom>
            <a:rect b="b" l="l" r="r" t="t"/>
            <a:pathLst>
              <a:path extrusionOk="0" h="684592" w="1462802">
                <a:moveTo>
                  <a:pt x="0" y="0"/>
                </a:moveTo>
                <a:lnTo>
                  <a:pt x="1462802" y="0"/>
                </a:lnTo>
                <a:lnTo>
                  <a:pt x="1462802" y="684591"/>
                </a:lnTo>
                <a:lnTo>
                  <a:pt x="0" y="6845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/>
          <p:nvPr/>
        </p:nvSpPr>
        <p:spPr>
          <a:xfrm>
            <a:off x="17259300" y="0"/>
            <a:ext cx="2108953" cy="1826363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00A181"/>
          </a:solidFill>
          <a:ln>
            <a:noFill/>
          </a:ln>
        </p:spPr>
      </p:sp>
      <p:sp>
        <p:nvSpPr>
          <p:cNvPr id="146" name="Google Shape;146;p5"/>
          <p:cNvSpPr/>
          <p:nvPr/>
        </p:nvSpPr>
        <p:spPr>
          <a:xfrm>
            <a:off x="-810382" y="9078630"/>
            <a:ext cx="2005093" cy="1736420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004651"/>
          </a:solidFill>
          <a:ln>
            <a:noFill/>
          </a:ln>
        </p:spPr>
      </p:sp>
      <p:sp>
        <p:nvSpPr>
          <p:cNvPr id="147" name="Google Shape;147;p5"/>
          <p:cNvSpPr/>
          <p:nvPr/>
        </p:nvSpPr>
        <p:spPr>
          <a:xfrm>
            <a:off x="17953159" y="1961777"/>
            <a:ext cx="1415094" cy="1225478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A4E473"/>
          </a:solidFill>
          <a:ln>
            <a:noFill/>
          </a:ln>
        </p:spPr>
      </p:sp>
      <p:sp>
        <p:nvSpPr>
          <p:cNvPr id="148" name="Google Shape;148;p5"/>
          <p:cNvSpPr/>
          <p:nvPr/>
        </p:nvSpPr>
        <p:spPr>
          <a:xfrm>
            <a:off x="1680070" y="5988550"/>
            <a:ext cx="6786634" cy="3749779"/>
          </a:xfrm>
          <a:custGeom>
            <a:rect b="b" l="l" r="r" t="t"/>
            <a:pathLst>
              <a:path extrusionOk="0" h="3749779" w="6786634">
                <a:moveTo>
                  <a:pt x="0" y="0"/>
                </a:moveTo>
                <a:lnTo>
                  <a:pt x="6786633" y="0"/>
                </a:lnTo>
                <a:lnTo>
                  <a:pt x="6786633" y="3749779"/>
                </a:lnTo>
                <a:lnTo>
                  <a:pt x="0" y="37497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260" l="0" r="-7392" t="0"/>
            </a:stretch>
          </a:blipFill>
          <a:ln>
            <a:noFill/>
          </a:ln>
        </p:spPr>
      </p:sp>
      <p:sp>
        <p:nvSpPr>
          <p:cNvPr id="149" name="Google Shape;149;p5"/>
          <p:cNvSpPr/>
          <p:nvPr/>
        </p:nvSpPr>
        <p:spPr>
          <a:xfrm>
            <a:off x="11309463" y="5780039"/>
            <a:ext cx="5172408" cy="3958290"/>
          </a:xfrm>
          <a:custGeom>
            <a:rect b="b" l="l" r="r" t="t"/>
            <a:pathLst>
              <a:path extrusionOk="0" h="3958290" w="5172408">
                <a:moveTo>
                  <a:pt x="0" y="0"/>
                </a:moveTo>
                <a:lnTo>
                  <a:pt x="5172408" y="0"/>
                </a:lnTo>
                <a:lnTo>
                  <a:pt x="5172408" y="3958290"/>
                </a:lnTo>
                <a:lnTo>
                  <a:pt x="0" y="39582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21037" r="-10567" t="0"/>
            </a:stretch>
          </a:blipFill>
          <a:ln>
            <a:noFill/>
          </a:ln>
        </p:spPr>
      </p:sp>
      <p:sp>
        <p:nvSpPr>
          <p:cNvPr id="150" name="Google Shape;150;p5"/>
          <p:cNvSpPr txBox="1"/>
          <p:nvPr/>
        </p:nvSpPr>
        <p:spPr>
          <a:xfrm>
            <a:off x="497345" y="2559316"/>
            <a:ext cx="9152084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7653" lvl="1" marL="615307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49"/>
              <a:buFont typeface="Arial"/>
              <a:buChar char="•"/>
            </a:pPr>
            <a:r>
              <a:rPr b="0" i="0" lang="en-US" sz="2849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Snacks ($18K) → Largest share, volume growth driver.</a:t>
            </a:r>
            <a:endParaRPr/>
          </a:p>
          <a:p>
            <a:pPr indent="-307653" lvl="1" marL="615307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49"/>
              <a:buFont typeface="Arial"/>
              <a:buChar char="•"/>
            </a:pPr>
            <a:r>
              <a:rPr b="0" i="0" lang="en-US" sz="2849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Lubricants ($16.5K) &amp; Fuel ($14.8K) → Smaller in volume but high margin contributors.</a:t>
            </a:r>
            <a:endParaRPr/>
          </a:p>
          <a:p>
            <a:pPr indent="-307653" lvl="1" marL="615307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49"/>
              <a:buFont typeface="Arial"/>
              <a:buChar char="•"/>
            </a:pPr>
            <a:r>
              <a:rPr b="0" i="0" lang="en-US" sz="2849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Maintenance Supplies ($15.6K) → Stable, steady contributor.</a:t>
            </a:r>
            <a:endParaRPr/>
          </a:p>
          <a:p>
            <a:pPr indent="-307653" lvl="1" marL="615307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49"/>
              <a:buFont typeface="Arial"/>
              <a:buChar char="•"/>
            </a:pPr>
            <a:r>
              <a:rPr b="0" i="0" lang="en-US" sz="2849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Beverages ($4K) → Consistent but limited growth.</a:t>
            </a:r>
            <a:endParaRPr/>
          </a:p>
        </p:txBody>
      </p:sp>
      <p:sp>
        <p:nvSpPr>
          <p:cNvPr id="151" name="Google Shape;151;p5"/>
          <p:cNvSpPr txBox="1"/>
          <p:nvPr/>
        </p:nvSpPr>
        <p:spPr>
          <a:xfrm>
            <a:off x="680352" y="504402"/>
            <a:ext cx="16578948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97" u="none" cap="none" strike="noStrike">
                <a:solidFill>
                  <a:srgbClr val="00465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Category Insights and Regional Insights</a:t>
            </a:r>
            <a:endParaRPr/>
          </a:p>
        </p:txBody>
      </p:sp>
      <p:sp>
        <p:nvSpPr>
          <p:cNvPr id="152" name="Google Shape;152;p5"/>
          <p:cNvSpPr txBox="1"/>
          <p:nvPr/>
        </p:nvSpPr>
        <p:spPr>
          <a:xfrm>
            <a:off x="9997776" y="2624860"/>
            <a:ext cx="7795782" cy="2152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7653" lvl="1" marL="615307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49"/>
              <a:buFont typeface="Arial"/>
              <a:buChar char="•"/>
            </a:pPr>
            <a:r>
              <a:rPr b="0" i="0" lang="en-US" sz="2849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South ($37K) → Dominates with ~50% of total sales.</a:t>
            </a:r>
            <a:endParaRPr/>
          </a:p>
          <a:p>
            <a:pPr indent="-307653" lvl="1" marL="615307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49"/>
              <a:buFont typeface="Arial"/>
              <a:buChar char="•"/>
            </a:pPr>
            <a:r>
              <a:rPr b="0" i="0" lang="en-US" sz="2849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West &amp; East (each $16K) → Mid-tier regions.</a:t>
            </a:r>
            <a:endParaRPr/>
          </a:p>
          <a:p>
            <a:pPr indent="-307653" lvl="1" marL="615307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49"/>
              <a:buFont typeface="Arial"/>
              <a:buChar char="•"/>
            </a:pPr>
            <a:r>
              <a:rPr b="0" i="0" lang="en-US" sz="2849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North ($7K) → Weakest, requires focus.</a:t>
            </a:r>
            <a:endParaRPr/>
          </a:p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49" u="none" cap="none" strike="noStrik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845692" y="1836918"/>
            <a:ext cx="348553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49" u="none" cap="none" strike="noStrike">
                <a:solidFill>
                  <a:srgbClr val="00A18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Category Insights</a:t>
            </a:r>
            <a:endParaRPr/>
          </a:p>
        </p:txBody>
      </p:sp>
      <p:sp>
        <p:nvSpPr>
          <p:cNvPr id="154" name="Google Shape;154;p5"/>
          <p:cNvSpPr txBox="1"/>
          <p:nvPr/>
        </p:nvSpPr>
        <p:spPr>
          <a:xfrm>
            <a:off x="10410137" y="1836918"/>
            <a:ext cx="348553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49" u="none" cap="none" strike="noStrike">
                <a:solidFill>
                  <a:srgbClr val="00A18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Regional Insights</a:t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-734742" y="7779527"/>
            <a:ext cx="1415094" cy="1225478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A4E473"/>
          </a:solidFill>
          <a:ln>
            <a:noFill/>
          </a:ln>
        </p:spPr>
      </p:sp>
      <p:sp>
        <p:nvSpPr>
          <p:cNvPr id="156" name="Google Shape;156;p5"/>
          <p:cNvSpPr txBox="1"/>
          <p:nvPr/>
        </p:nvSpPr>
        <p:spPr>
          <a:xfrm>
            <a:off x="5954993" y="9918265"/>
            <a:ext cx="6380917" cy="5587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28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Global Partners | Confidential Information | For Internal use only</a:t>
            </a:r>
            <a:endParaRPr/>
          </a:p>
          <a:p>
            <a:pPr indent="0" lvl="0" marL="0" marR="0" rtl="0" algn="ctr">
              <a:lnSpc>
                <a:spcPct val="1400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28" u="none" cap="none" strike="noStrike">
              <a:solidFill>
                <a:srgbClr val="A6A6A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15750470" y="344108"/>
            <a:ext cx="1462802" cy="684592"/>
          </a:xfrm>
          <a:custGeom>
            <a:rect b="b" l="l" r="r" t="t"/>
            <a:pathLst>
              <a:path extrusionOk="0" h="684592" w="1462802">
                <a:moveTo>
                  <a:pt x="0" y="0"/>
                </a:moveTo>
                <a:lnTo>
                  <a:pt x="1462802" y="0"/>
                </a:lnTo>
                <a:lnTo>
                  <a:pt x="1462802" y="684592"/>
                </a:lnTo>
                <a:lnTo>
                  <a:pt x="0" y="684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"/>
          <p:cNvSpPr/>
          <p:nvPr/>
        </p:nvSpPr>
        <p:spPr>
          <a:xfrm rot="10800000">
            <a:off x="-1517947" y="4760844"/>
            <a:ext cx="4985461" cy="4317433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004651"/>
          </a:solidFill>
          <a:ln>
            <a:noFill/>
          </a:ln>
        </p:spPr>
      </p:sp>
      <p:sp>
        <p:nvSpPr>
          <p:cNvPr id="163" name="Google Shape;163;p6"/>
          <p:cNvSpPr/>
          <p:nvPr/>
        </p:nvSpPr>
        <p:spPr>
          <a:xfrm rot="10800000">
            <a:off x="2849276" y="7445248"/>
            <a:ext cx="3480308" cy="3013963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A4E473"/>
          </a:solidFill>
          <a:ln>
            <a:noFill/>
          </a:ln>
        </p:spPr>
      </p:sp>
      <p:sp>
        <p:nvSpPr>
          <p:cNvPr id="164" name="Google Shape;164;p6"/>
          <p:cNvSpPr/>
          <p:nvPr/>
        </p:nvSpPr>
        <p:spPr>
          <a:xfrm rot="10800000">
            <a:off x="2568225" y="3982055"/>
            <a:ext cx="1798578" cy="1557577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00A181"/>
          </a:solidFill>
          <a:ln>
            <a:noFill/>
          </a:ln>
        </p:spPr>
      </p:sp>
      <p:sp>
        <p:nvSpPr>
          <p:cNvPr id="165" name="Google Shape;165;p6"/>
          <p:cNvSpPr/>
          <p:nvPr/>
        </p:nvSpPr>
        <p:spPr>
          <a:xfrm rot="10800000">
            <a:off x="89123" y="7771909"/>
            <a:ext cx="3378391" cy="2925703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00A181"/>
          </a:solidFill>
          <a:ln>
            <a:noFill/>
          </a:ln>
        </p:spPr>
      </p:sp>
      <p:cxnSp>
        <p:nvCxnSpPr>
          <p:cNvPr id="166" name="Google Shape;166;p6"/>
          <p:cNvCxnSpPr/>
          <p:nvPr/>
        </p:nvCxnSpPr>
        <p:spPr>
          <a:xfrm>
            <a:off x="6952636" y="1033462"/>
            <a:ext cx="8272402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" name="Google Shape;167;p6"/>
          <p:cNvSpPr/>
          <p:nvPr/>
        </p:nvSpPr>
        <p:spPr>
          <a:xfrm>
            <a:off x="6952636" y="4938461"/>
            <a:ext cx="10565605" cy="4319839"/>
          </a:xfrm>
          <a:custGeom>
            <a:rect b="b" l="l" r="r" t="t"/>
            <a:pathLst>
              <a:path extrusionOk="0" h="4319839" w="10565605">
                <a:moveTo>
                  <a:pt x="0" y="0"/>
                </a:moveTo>
                <a:lnTo>
                  <a:pt x="10565605" y="0"/>
                </a:lnTo>
                <a:lnTo>
                  <a:pt x="10565605" y="4319839"/>
                </a:lnTo>
                <a:lnTo>
                  <a:pt x="0" y="43198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68" name="Google Shape;168;p6"/>
          <p:cNvGrpSpPr/>
          <p:nvPr/>
        </p:nvGrpSpPr>
        <p:grpSpPr>
          <a:xfrm>
            <a:off x="6952636" y="1033462"/>
            <a:ext cx="9775917" cy="3711237"/>
            <a:chOff x="0" y="0"/>
            <a:chExt cx="13034557" cy="4948316"/>
          </a:xfrm>
        </p:grpSpPr>
        <p:sp>
          <p:nvSpPr>
            <p:cNvPr id="169" name="Google Shape;169;p6"/>
            <p:cNvSpPr txBox="1"/>
            <p:nvPr/>
          </p:nvSpPr>
          <p:spPr>
            <a:xfrm>
              <a:off x="0" y="0"/>
              <a:ext cx="13034557" cy="436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80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2738" lvl="1" marL="585475" marR="0" rtl="0" algn="l">
                <a:lnSpc>
                  <a:spcPct val="12002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11"/>
                <a:buFont typeface="Arial"/>
                <a:buChar char="•"/>
              </a:pPr>
              <a:r>
                <a:rPr b="0" i="0" lang="en-US" sz="2711" u="none" cap="none" strike="noStrike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Gold customers: $281K spend across segments (anchor customers).</a:t>
              </a:r>
              <a:endParaRPr/>
            </a:p>
            <a:p>
              <a:pPr indent="-292738" lvl="1" marL="585475" marR="0" rtl="0" algn="l">
                <a:lnSpc>
                  <a:spcPct val="12002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11"/>
                <a:buFont typeface="Arial"/>
                <a:buChar char="•"/>
              </a:pPr>
              <a:r>
                <a:rPr b="0" i="0" lang="en-US" sz="2711" u="none" cap="none" strike="noStrike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Silver customers: ~$130K combined, strong base for upgrades.</a:t>
              </a:r>
              <a:endParaRPr/>
            </a:p>
            <a:p>
              <a:pPr indent="-292738" lvl="1" marL="585475" marR="0" rtl="0" algn="l">
                <a:lnSpc>
                  <a:spcPct val="12002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11"/>
                <a:buFont typeface="Arial"/>
                <a:buChar char="•"/>
              </a:pPr>
              <a:r>
                <a:rPr b="0" i="0" lang="en-US" sz="2711" u="none" cap="none" strike="noStrike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Platinum: Smaller base but steady contribution.</a:t>
              </a:r>
              <a:endParaRPr/>
            </a:p>
            <a:p>
              <a:pPr indent="-292738" lvl="1" marL="585475" marR="0" rtl="0" algn="l">
                <a:lnSpc>
                  <a:spcPct val="12002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11"/>
                <a:buFont typeface="Arial"/>
                <a:buChar char="•"/>
              </a:pPr>
              <a:r>
                <a:rPr b="0" i="0" lang="en-US" sz="2711" u="none" cap="none" strike="noStrike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Bronze: Lowest contribution ($73K), but growth potential.</a:t>
              </a:r>
              <a:endParaRPr/>
            </a:p>
            <a:p>
              <a:pPr indent="0" lvl="0" marL="0" marR="0" rtl="0" algn="l">
                <a:lnSpc>
                  <a:spcPct val="1200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711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0" name="Google Shape;170;p6"/>
            <p:cNvSpPr txBox="1"/>
            <p:nvPr/>
          </p:nvSpPr>
          <p:spPr>
            <a:xfrm>
              <a:off x="0" y="4618445"/>
              <a:ext cx="13034557" cy="329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2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1" name="Google Shape;171;p6"/>
          <p:cNvSpPr txBox="1"/>
          <p:nvPr/>
        </p:nvSpPr>
        <p:spPr>
          <a:xfrm>
            <a:off x="582371" y="676981"/>
            <a:ext cx="5500925" cy="2646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385" u="none" cap="none" strike="noStrike">
                <a:solidFill>
                  <a:srgbClr val="00A181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Customer Segmentation &amp; Loyalty</a:t>
            </a:r>
            <a:endParaRPr/>
          </a:p>
        </p:txBody>
      </p:sp>
      <p:sp>
        <p:nvSpPr>
          <p:cNvPr id="172" name="Google Shape;172;p6"/>
          <p:cNvSpPr txBox="1"/>
          <p:nvPr/>
        </p:nvSpPr>
        <p:spPr>
          <a:xfrm>
            <a:off x="6952636" y="485845"/>
            <a:ext cx="4172564" cy="467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99" u="none" cap="none" strike="noStrike">
                <a:solidFill>
                  <a:srgbClr val="004651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Loyalty Tier Analysis:</a:t>
            </a:r>
            <a:endParaRPr/>
          </a:p>
        </p:txBody>
      </p:sp>
      <p:sp>
        <p:nvSpPr>
          <p:cNvPr id="173" name="Google Shape;173;p6"/>
          <p:cNvSpPr txBox="1"/>
          <p:nvPr/>
        </p:nvSpPr>
        <p:spPr>
          <a:xfrm>
            <a:off x="5953542" y="9728297"/>
            <a:ext cx="6380917" cy="5587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28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Global Partners | Confidential Information | For Internal use only</a:t>
            </a:r>
            <a:endParaRPr/>
          </a:p>
          <a:p>
            <a:pPr indent="0" lvl="0" marL="0" marR="0" rtl="0" algn="ctr">
              <a:lnSpc>
                <a:spcPct val="1400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28" u="none" cap="none" strike="noStrike">
              <a:solidFill>
                <a:srgbClr val="A6A6A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16527899" y="344108"/>
            <a:ext cx="1462802" cy="684592"/>
          </a:xfrm>
          <a:custGeom>
            <a:rect b="b" l="l" r="r" t="t"/>
            <a:pathLst>
              <a:path extrusionOk="0" h="684592" w="1462802">
                <a:moveTo>
                  <a:pt x="0" y="0"/>
                </a:moveTo>
                <a:lnTo>
                  <a:pt x="1462802" y="0"/>
                </a:lnTo>
                <a:lnTo>
                  <a:pt x="1462802" y="684592"/>
                </a:lnTo>
                <a:lnTo>
                  <a:pt x="0" y="684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179;p7"/>
          <p:cNvGrpSpPr/>
          <p:nvPr/>
        </p:nvGrpSpPr>
        <p:grpSpPr>
          <a:xfrm>
            <a:off x="13712489" y="-378523"/>
            <a:ext cx="6452816" cy="5522023"/>
            <a:chOff x="0" y="0"/>
            <a:chExt cx="8603755" cy="7362698"/>
          </a:xfrm>
        </p:grpSpPr>
        <p:sp>
          <p:nvSpPr>
            <p:cNvPr id="180" name="Google Shape;180;p7"/>
            <p:cNvSpPr/>
            <p:nvPr/>
          </p:nvSpPr>
          <p:spPr>
            <a:xfrm rot="10800000">
              <a:off x="0" y="853836"/>
              <a:ext cx="5465883" cy="4733480"/>
            </a:xfrm>
            <a:custGeom>
              <a:rect b="b" l="l" r="r" t="t"/>
              <a:pathLst>
                <a:path extrusionOk="0"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4651"/>
            </a:solidFill>
            <a:ln>
              <a:noFill/>
            </a:ln>
          </p:spPr>
        </p:sp>
        <p:sp>
          <p:nvSpPr>
            <p:cNvPr id="181" name="Google Shape;181;p7"/>
            <p:cNvSpPr/>
            <p:nvPr/>
          </p:nvSpPr>
          <p:spPr>
            <a:xfrm rot="10800000">
              <a:off x="4788069" y="3796922"/>
              <a:ext cx="3815686" cy="3304402"/>
            </a:xfrm>
            <a:custGeom>
              <a:rect b="b" l="l" r="r" t="t"/>
              <a:pathLst>
                <a:path extrusionOk="0"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  <a:ln>
              <a:noFill/>
            </a:ln>
          </p:spPr>
        </p:sp>
        <p:sp>
          <p:nvSpPr>
            <p:cNvPr id="182" name="Google Shape;182;p7"/>
            <p:cNvSpPr/>
            <p:nvPr/>
          </p:nvSpPr>
          <p:spPr>
            <a:xfrm rot="10800000">
              <a:off x="4479934" y="0"/>
              <a:ext cx="1971898" cy="1707673"/>
            </a:xfrm>
            <a:custGeom>
              <a:rect b="b" l="l" r="r" t="t"/>
              <a:pathLst>
                <a:path extrusionOk="0"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  <a:ln>
              <a:noFill/>
            </a:ln>
          </p:spPr>
        </p:sp>
        <p:sp>
          <p:nvSpPr>
            <p:cNvPr id="183" name="Google Shape;183;p7"/>
            <p:cNvSpPr/>
            <p:nvPr/>
          </p:nvSpPr>
          <p:spPr>
            <a:xfrm rot="10800000">
              <a:off x="1761934" y="4155061"/>
              <a:ext cx="3703948" cy="3207637"/>
            </a:xfrm>
            <a:custGeom>
              <a:rect b="b" l="l" r="r" t="t"/>
              <a:pathLst>
                <a:path extrusionOk="0"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  <a:ln>
              <a:noFill/>
            </a:ln>
          </p:spPr>
        </p:sp>
      </p:grpSp>
      <p:cxnSp>
        <p:nvCxnSpPr>
          <p:cNvPr id="184" name="Google Shape;184;p7"/>
          <p:cNvCxnSpPr/>
          <p:nvPr/>
        </p:nvCxnSpPr>
        <p:spPr>
          <a:xfrm>
            <a:off x="871598" y="2639628"/>
            <a:ext cx="8272402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" name="Google Shape;185;p7"/>
          <p:cNvSpPr/>
          <p:nvPr/>
        </p:nvSpPr>
        <p:spPr>
          <a:xfrm>
            <a:off x="701488" y="5600700"/>
            <a:ext cx="15121289" cy="3681166"/>
          </a:xfrm>
          <a:custGeom>
            <a:rect b="b" l="l" r="r" t="t"/>
            <a:pathLst>
              <a:path extrusionOk="0" h="3681166" w="15121289">
                <a:moveTo>
                  <a:pt x="0" y="0"/>
                </a:moveTo>
                <a:lnTo>
                  <a:pt x="15121289" y="0"/>
                </a:lnTo>
                <a:lnTo>
                  <a:pt x="15121289" y="3681166"/>
                </a:lnTo>
                <a:lnTo>
                  <a:pt x="0" y="36811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86" name="Google Shape;186;p7"/>
          <p:cNvGrpSpPr/>
          <p:nvPr/>
        </p:nvGrpSpPr>
        <p:grpSpPr>
          <a:xfrm>
            <a:off x="536707" y="2739461"/>
            <a:ext cx="9775917" cy="2482512"/>
            <a:chOff x="0" y="0"/>
            <a:chExt cx="13034557" cy="3310016"/>
          </a:xfrm>
        </p:grpSpPr>
        <p:sp>
          <p:nvSpPr>
            <p:cNvPr id="187" name="Google Shape;187;p7"/>
            <p:cNvSpPr txBox="1"/>
            <p:nvPr/>
          </p:nvSpPr>
          <p:spPr>
            <a:xfrm>
              <a:off x="0" y="0"/>
              <a:ext cx="13034557" cy="273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80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2738" lvl="1" marL="585475" marR="0" rtl="0" algn="l">
                <a:lnSpc>
                  <a:spcPct val="12002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11"/>
                <a:buFont typeface="Arial"/>
                <a:buChar char="•"/>
              </a:pPr>
              <a:r>
                <a:rPr b="0" i="0" lang="en-US" sz="2711" u="none" cap="none" strike="noStrike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Commercial Gold = 52.9% of segment spend → key segment to defend.</a:t>
              </a:r>
              <a:endParaRPr/>
            </a:p>
            <a:p>
              <a:pPr indent="-292738" lvl="1" marL="585475" marR="0" rtl="0" algn="l">
                <a:lnSpc>
                  <a:spcPct val="12002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11"/>
                <a:buFont typeface="Arial"/>
                <a:buChar char="•"/>
              </a:pPr>
              <a:r>
                <a:rPr b="0" i="0" lang="en-US" sz="2711" u="none" cap="none" strike="noStrike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Retail Gold = 42.9% of spend → strong, growing base.</a:t>
              </a:r>
              <a:endParaRPr/>
            </a:p>
            <a:p>
              <a:pPr indent="0" lvl="0" marL="0" marR="0" rtl="0" algn="l">
                <a:lnSpc>
                  <a:spcPct val="1200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711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88" name="Google Shape;188;p7"/>
            <p:cNvSpPr txBox="1"/>
            <p:nvPr/>
          </p:nvSpPr>
          <p:spPr>
            <a:xfrm>
              <a:off x="0" y="2980145"/>
              <a:ext cx="13034557" cy="329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2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" name="Google Shape;189;p7"/>
          <p:cNvSpPr txBox="1"/>
          <p:nvPr/>
        </p:nvSpPr>
        <p:spPr>
          <a:xfrm>
            <a:off x="275417" y="556835"/>
            <a:ext cx="11739048" cy="874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385" u="none" cap="none" strike="noStrike">
                <a:solidFill>
                  <a:srgbClr val="00A181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Customer Segmentation &amp; Loyalty</a:t>
            </a:r>
            <a:endParaRPr/>
          </a:p>
        </p:txBody>
      </p:sp>
      <p:sp>
        <p:nvSpPr>
          <p:cNvPr id="190" name="Google Shape;190;p7"/>
          <p:cNvSpPr txBox="1"/>
          <p:nvPr/>
        </p:nvSpPr>
        <p:spPr>
          <a:xfrm>
            <a:off x="871598" y="2092011"/>
            <a:ext cx="5453002" cy="467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99" u="none" cap="none" strike="noStrike">
                <a:solidFill>
                  <a:srgbClr val="004651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Segment × Loyalty insights:</a:t>
            </a:r>
            <a:endParaRPr/>
          </a:p>
        </p:txBody>
      </p:sp>
      <p:sp>
        <p:nvSpPr>
          <p:cNvPr id="191" name="Google Shape;191;p7"/>
          <p:cNvSpPr txBox="1"/>
          <p:nvPr/>
        </p:nvSpPr>
        <p:spPr>
          <a:xfrm>
            <a:off x="5953542" y="9728297"/>
            <a:ext cx="6380917" cy="5587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28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Global Partners | Confidential Information | For Internal use only</a:t>
            </a:r>
            <a:endParaRPr/>
          </a:p>
          <a:p>
            <a:pPr indent="0" lvl="0" marL="0" marR="0" rtl="0" algn="ctr">
              <a:lnSpc>
                <a:spcPct val="1400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28" u="none" cap="none" strike="noStrike">
              <a:solidFill>
                <a:srgbClr val="A6A6A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12694347" y="271689"/>
            <a:ext cx="1462802" cy="684592"/>
          </a:xfrm>
          <a:custGeom>
            <a:rect b="b" l="l" r="r" t="t"/>
            <a:pathLst>
              <a:path extrusionOk="0" h="684592" w="1462802">
                <a:moveTo>
                  <a:pt x="0" y="0"/>
                </a:moveTo>
                <a:lnTo>
                  <a:pt x="1462802" y="0"/>
                </a:lnTo>
                <a:lnTo>
                  <a:pt x="1462802" y="684591"/>
                </a:lnTo>
                <a:lnTo>
                  <a:pt x="0" y="6845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"/>
          <p:cNvSpPr/>
          <p:nvPr/>
        </p:nvSpPr>
        <p:spPr>
          <a:xfrm rot="10800000">
            <a:off x="-2450972" y="-1571545"/>
            <a:ext cx="12493103" cy="3143089"/>
          </a:xfrm>
          <a:custGeom>
            <a:rect b="b" l="l" r="r" t="t"/>
            <a:pathLst>
              <a:path extrusionOk="0" h="2149206" w="8542630">
                <a:moveTo>
                  <a:pt x="8542630" y="1074603"/>
                </a:moveTo>
                <a:lnTo>
                  <a:pt x="7637755" y="2149206"/>
                </a:lnTo>
                <a:lnTo>
                  <a:pt x="904875" y="2149206"/>
                </a:lnTo>
                <a:lnTo>
                  <a:pt x="0" y="1074603"/>
                </a:lnTo>
                <a:lnTo>
                  <a:pt x="904875" y="0"/>
                </a:lnTo>
                <a:lnTo>
                  <a:pt x="7637628" y="0"/>
                </a:lnTo>
                <a:lnTo>
                  <a:pt x="8542630" y="1074603"/>
                </a:lnTo>
                <a:close/>
              </a:path>
            </a:pathLst>
          </a:custGeom>
          <a:solidFill>
            <a:srgbClr val="00A181"/>
          </a:solidFill>
          <a:ln>
            <a:noFill/>
          </a:ln>
        </p:spPr>
      </p:sp>
      <p:sp>
        <p:nvSpPr>
          <p:cNvPr id="198" name="Google Shape;198;p8"/>
          <p:cNvSpPr/>
          <p:nvPr/>
        </p:nvSpPr>
        <p:spPr>
          <a:xfrm>
            <a:off x="3446813" y="5514515"/>
            <a:ext cx="11394374" cy="3871342"/>
          </a:xfrm>
          <a:custGeom>
            <a:rect b="b" l="l" r="r" t="t"/>
            <a:pathLst>
              <a:path extrusionOk="0" h="3871342" w="11394374">
                <a:moveTo>
                  <a:pt x="0" y="0"/>
                </a:moveTo>
                <a:lnTo>
                  <a:pt x="11394374" y="0"/>
                </a:lnTo>
                <a:lnTo>
                  <a:pt x="11394374" y="3871342"/>
                </a:lnTo>
                <a:lnTo>
                  <a:pt x="0" y="38713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9" name="Google Shape;199;p8"/>
          <p:cNvSpPr txBox="1"/>
          <p:nvPr/>
        </p:nvSpPr>
        <p:spPr>
          <a:xfrm>
            <a:off x="232133" y="166101"/>
            <a:ext cx="11998119" cy="954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869" u="none" cap="none" strike="noStrike">
                <a:solidFill>
                  <a:srgbClr val="F4F4F4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Customer Performance</a:t>
            </a:r>
            <a:endParaRPr/>
          </a:p>
        </p:txBody>
      </p:sp>
      <p:sp>
        <p:nvSpPr>
          <p:cNvPr id="200" name="Google Shape;200;p8"/>
          <p:cNvSpPr txBox="1"/>
          <p:nvPr/>
        </p:nvSpPr>
        <p:spPr>
          <a:xfrm>
            <a:off x="9601605" y="2531185"/>
            <a:ext cx="8144973" cy="25341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8747" lvl="1" marL="477494" marR="0" rtl="0" algn="l">
              <a:lnSpc>
                <a:spcPct val="1300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11"/>
              <a:buFont typeface="Arial"/>
              <a:buChar char="•"/>
            </a:pPr>
            <a:r>
              <a:rPr b="0" i="0" lang="en-US" sz="2211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Business is highly dependent on a few key accounts → retention risk.</a:t>
            </a:r>
            <a:endParaRPr/>
          </a:p>
          <a:p>
            <a:pPr indent="-238747" lvl="1" marL="477494" marR="0" rtl="0" algn="l">
              <a:lnSpc>
                <a:spcPct val="1300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11"/>
              <a:buFont typeface="Arial"/>
              <a:buChar char="•"/>
            </a:pPr>
            <a:r>
              <a:rPr b="0" i="0" lang="en-US" sz="2211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Growth potential in long-tail customers through upselling and cross-selling.</a:t>
            </a:r>
            <a:endParaRPr/>
          </a:p>
          <a:p>
            <a:pPr indent="-238747" lvl="1" marL="477494" marR="0" rtl="0" algn="l">
              <a:lnSpc>
                <a:spcPct val="1300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11"/>
              <a:buFont typeface="Arial"/>
              <a:buChar char="•"/>
            </a:pPr>
            <a:r>
              <a:rPr b="0" i="0" lang="en-US" sz="2211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Strategy: Protect top accounts while lifting mid-tier customers to balance revenue.</a:t>
            </a:r>
            <a:endParaRPr/>
          </a:p>
        </p:txBody>
      </p:sp>
      <p:sp>
        <p:nvSpPr>
          <p:cNvPr id="201" name="Google Shape;201;p8"/>
          <p:cNvSpPr txBox="1"/>
          <p:nvPr/>
        </p:nvSpPr>
        <p:spPr>
          <a:xfrm>
            <a:off x="232133" y="2971313"/>
            <a:ext cx="8658087" cy="2172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38748" lvl="1" marL="477496" marR="0" rtl="0" algn="l">
              <a:lnSpc>
                <a:spcPct val="1300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11"/>
              <a:buFont typeface="Arial"/>
              <a:buChar char="•"/>
            </a:pPr>
            <a:r>
              <a:rPr b="0" i="0" lang="en-US" sz="2211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Top 5 customers contribute $4.3K–$5K each, showing a concentrated revenue base.</a:t>
            </a:r>
            <a:endParaRPr/>
          </a:p>
          <a:p>
            <a:pPr indent="-238748" lvl="1" marL="477496" marR="0" rtl="0" algn="l">
              <a:lnSpc>
                <a:spcPct val="1300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11"/>
              <a:buFont typeface="Arial"/>
              <a:buChar char="•"/>
            </a:pPr>
            <a:r>
              <a:rPr b="0" i="0" lang="en-US" sz="2211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Average order value peaks at $1.4K, but most customers spend below $1K.</a:t>
            </a:r>
            <a:endParaRPr/>
          </a:p>
          <a:p>
            <a:pPr indent="-238748" lvl="1" marL="477496" marR="0" rtl="0" algn="l">
              <a:lnSpc>
                <a:spcPct val="1300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11"/>
              <a:buFont typeface="Arial"/>
              <a:buChar char="•"/>
            </a:pPr>
            <a:r>
              <a:rPr b="0" i="0" lang="en-US" sz="2211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Revenue is top-heavy, with many customers contributing only small amounts.</a:t>
            </a:r>
            <a:endParaRPr/>
          </a:p>
        </p:txBody>
      </p:sp>
      <p:sp>
        <p:nvSpPr>
          <p:cNvPr id="202" name="Google Shape;202;p8"/>
          <p:cNvSpPr txBox="1"/>
          <p:nvPr/>
        </p:nvSpPr>
        <p:spPr>
          <a:xfrm>
            <a:off x="508027" y="2310840"/>
            <a:ext cx="2938785" cy="4686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46" u="none" cap="none" strike="noStrike">
                <a:solidFill>
                  <a:srgbClr val="004651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Key Highlights</a:t>
            </a:r>
            <a:endParaRPr/>
          </a:p>
        </p:txBody>
      </p:sp>
      <p:sp>
        <p:nvSpPr>
          <p:cNvPr id="203" name="Google Shape;203;p8"/>
          <p:cNvSpPr txBox="1"/>
          <p:nvPr/>
        </p:nvSpPr>
        <p:spPr>
          <a:xfrm>
            <a:off x="9752982" y="2329304"/>
            <a:ext cx="1427917" cy="450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99" u="none" cap="none" strike="noStrike">
                <a:solidFill>
                  <a:srgbClr val="004651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Insights</a:t>
            </a:r>
            <a:endParaRPr/>
          </a:p>
        </p:txBody>
      </p:sp>
      <p:cxnSp>
        <p:nvCxnSpPr>
          <p:cNvPr id="204" name="Google Shape;204;p8"/>
          <p:cNvCxnSpPr/>
          <p:nvPr/>
        </p:nvCxnSpPr>
        <p:spPr>
          <a:xfrm>
            <a:off x="9144000" y="2564230"/>
            <a:ext cx="0" cy="2281322"/>
          </a:xfrm>
          <a:prstGeom prst="straightConnector1">
            <a:avLst/>
          </a:prstGeom>
          <a:noFill/>
          <a:ln cap="rnd" cmpd="sng" w="19050">
            <a:solidFill>
              <a:srgbClr val="00465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" name="Google Shape;205;p8"/>
          <p:cNvSpPr txBox="1"/>
          <p:nvPr/>
        </p:nvSpPr>
        <p:spPr>
          <a:xfrm>
            <a:off x="5953542" y="9728297"/>
            <a:ext cx="6380917" cy="5587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28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Global Partners | Confidential Information | For Internal use only</a:t>
            </a:r>
            <a:endParaRPr/>
          </a:p>
          <a:p>
            <a:pPr indent="0" lvl="0" marL="0" marR="0" rtl="0" algn="ctr">
              <a:lnSpc>
                <a:spcPct val="1400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28" u="none" cap="none" strike="noStrike">
              <a:solidFill>
                <a:srgbClr val="A6A6A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16527899" y="232776"/>
            <a:ext cx="1462802" cy="684592"/>
          </a:xfrm>
          <a:custGeom>
            <a:rect b="b" l="l" r="r" t="t"/>
            <a:pathLst>
              <a:path extrusionOk="0" h="684592" w="1462802">
                <a:moveTo>
                  <a:pt x="0" y="0"/>
                </a:moveTo>
                <a:lnTo>
                  <a:pt x="1462802" y="0"/>
                </a:lnTo>
                <a:lnTo>
                  <a:pt x="1462802" y="684591"/>
                </a:lnTo>
                <a:lnTo>
                  <a:pt x="0" y="6845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9"/>
          <p:cNvGrpSpPr/>
          <p:nvPr/>
        </p:nvGrpSpPr>
        <p:grpSpPr>
          <a:xfrm>
            <a:off x="197989" y="5627657"/>
            <a:ext cx="15477317" cy="4348317"/>
            <a:chOff x="0" y="-28575"/>
            <a:chExt cx="2413464" cy="678057"/>
          </a:xfrm>
        </p:grpSpPr>
        <p:sp>
          <p:nvSpPr>
            <p:cNvPr id="212" name="Google Shape;212;p9"/>
            <p:cNvSpPr/>
            <p:nvPr/>
          </p:nvSpPr>
          <p:spPr>
            <a:xfrm>
              <a:off x="0" y="0"/>
              <a:ext cx="2413464" cy="649482"/>
            </a:xfrm>
            <a:custGeom>
              <a:rect b="b" l="l" r="r" t="t"/>
              <a:pathLst>
                <a:path extrusionOk="0" h="649482" w="2413464">
                  <a:moveTo>
                    <a:pt x="0" y="0"/>
                  </a:moveTo>
                  <a:lnTo>
                    <a:pt x="2413464" y="0"/>
                  </a:lnTo>
                  <a:lnTo>
                    <a:pt x="2413464" y="649482"/>
                  </a:lnTo>
                  <a:lnTo>
                    <a:pt x="0" y="649482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</p:sp>
        <p:sp>
          <p:nvSpPr>
            <p:cNvPr id="213" name="Google Shape;213;p9"/>
            <p:cNvSpPr txBox="1"/>
            <p:nvPr/>
          </p:nvSpPr>
          <p:spPr>
            <a:xfrm>
              <a:off x="0" y="-28575"/>
              <a:ext cx="2413464" cy="6780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l">
                <a:lnSpc>
                  <a:spcPct val="1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1468" lvl="1" marL="582936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•"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Heavy dependence on Peter’s team poses concentration risk if key managers underperform.</a:t>
              </a:r>
              <a:endParaRPr/>
            </a:p>
            <a:p>
              <a:pPr indent="-291468" lvl="1" marL="582936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•"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Jon (under Kumar) and Kim (under Peter) stand out as strong performers.</a:t>
              </a:r>
              <a:endParaRPr/>
            </a:p>
            <a:p>
              <a:pPr indent="-291468" lvl="1" marL="582936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•"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Variability across managers shows the need for:</a:t>
              </a:r>
              <a:endParaRPr/>
            </a:p>
            <a:p>
              <a:pPr indent="-291468" lvl="1" marL="582936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•"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Performance coaching.</a:t>
              </a:r>
              <a:endParaRPr/>
            </a:p>
            <a:p>
              <a:pPr indent="-291468" lvl="1" marL="582936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•"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Balanced pipeline building across all VPs.</a:t>
              </a:r>
              <a:endParaRPr/>
            </a:p>
            <a:p>
              <a:pPr indent="-291468" lvl="1" marL="582936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Char char="•"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Knowledge-sharing from top performers to weaker teams.</a:t>
              </a:r>
              <a:endParaRPr/>
            </a:p>
          </p:txBody>
        </p:sp>
      </p:grpSp>
      <p:sp>
        <p:nvSpPr>
          <p:cNvPr id="214" name="Google Shape;214;p9"/>
          <p:cNvSpPr/>
          <p:nvPr/>
        </p:nvSpPr>
        <p:spPr>
          <a:xfrm rot="10800000">
            <a:off x="-2915828" y="-3678236"/>
            <a:ext cx="12804984" cy="6226137"/>
          </a:xfrm>
          <a:custGeom>
            <a:rect b="b" l="l" r="r" t="t"/>
            <a:pathLst>
              <a:path extrusionOk="0" h="5372100" w="11048529">
                <a:moveTo>
                  <a:pt x="9497859" y="0"/>
                </a:moveTo>
                <a:lnTo>
                  <a:pt x="1550670" y="0"/>
                </a:lnTo>
                <a:lnTo>
                  <a:pt x="0" y="2686050"/>
                </a:lnTo>
                <a:lnTo>
                  <a:pt x="1550670" y="5372100"/>
                </a:lnTo>
                <a:lnTo>
                  <a:pt x="9497859" y="5372100"/>
                </a:lnTo>
                <a:lnTo>
                  <a:pt x="11048529" y="2686050"/>
                </a:lnTo>
                <a:lnTo>
                  <a:pt x="9497859" y="0"/>
                </a:lnTo>
                <a:close/>
              </a:path>
            </a:pathLst>
          </a:custGeom>
          <a:solidFill>
            <a:srgbClr val="A4E473"/>
          </a:solidFill>
          <a:ln>
            <a:noFill/>
          </a:ln>
        </p:spPr>
      </p:sp>
      <p:sp>
        <p:nvSpPr>
          <p:cNvPr id="215" name="Google Shape;215;p9"/>
          <p:cNvSpPr/>
          <p:nvPr/>
        </p:nvSpPr>
        <p:spPr>
          <a:xfrm>
            <a:off x="8235082" y="-865713"/>
            <a:ext cx="2695438" cy="2334501"/>
          </a:xfrm>
          <a:custGeom>
            <a:rect b="b" l="l" r="r" t="t"/>
            <a:pathLst>
              <a:path extrusionOk="0" h="5372100" w="6202680">
                <a:moveTo>
                  <a:pt x="4652010" y="0"/>
                </a:moveTo>
                <a:lnTo>
                  <a:pt x="1550670" y="0"/>
                </a:lnTo>
                <a:lnTo>
                  <a:pt x="0" y="2686050"/>
                </a:lnTo>
                <a:lnTo>
                  <a:pt x="1550670" y="5372100"/>
                </a:lnTo>
                <a:lnTo>
                  <a:pt x="4652010" y="5372100"/>
                </a:lnTo>
                <a:lnTo>
                  <a:pt x="6202680" y="2686050"/>
                </a:lnTo>
                <a:lnTo>
                  <a:pt x="4652010" y="0"/>
                </a:lnTo>
                <a:close/>
              </a:path>
            </a:pathLst>
          </a:custGeom>
          <a:solidFill>
            <a:srgbClr val="00A181"/>
          </a:solidFill>
          <a:ln>
            <a:noFill/>
          </a:ln>
        </p:spPr>
      </p:sp>
      <p:sp>
        <p:nvSpPr>
          <p:cNvPr id="216" name="Google Shape;216;p9"/>
          <p:cNvSpPr txBox="1"/>
          <p:nvPr/>
        </p:nvSpPr>
        <p:spPr>
          <a:xfrm>
            <a:off x="1424985" y="234863"/>
            <a:ext cx="6629142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465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Management Accountability</a:t>
            </a:r>
            <a:endParaRPr/>
          </a:p>
        </p:txBody>
      </p:sp>
      <p:sp>
        <p:nvSpPr>
          <p:cNvPr id="217" name="Google Shape;217;p9"/>
          <p:cNvSpPr txBox="1"/>
          <p:nvPr/>
        </p:nvSpPr>
        <p:spPr>
          <a:xfrm>
            <a:off x="15372196" y="1146232"/>
            <a:ext cx="2180761" cy="290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4F4F4"/>
                </a:solidFill>
                <a:latin typeface="Fira Sans"/>
                <a:ea typeface="Fira Sans"/>
                <a:cs typeface="Fira Sans"/>
                <a:sym typeface="Fira Sans"/>
              </a:rPr>
              <a:t>Back to Agenda Page</a:t>
            </a:r>
            <a:endParaRPr/>
          </a:p>
        </p:txBody>
      </p:sp>
      <p:sp>
        <p:nvSpPr>
          <p:cNvPr id="218" name="Google Shape;218;p9"/>
          <p:cNvSpPr txBox="1"/>
          <p:nvPr/>
        </p:nvSpPr>
        <p:spPr>
          <a:xfrm>
            <a:off x="416148" y="3229454"/>
            <a:ext cx="5070252" cy="450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99" u="none" cap="none" strike="noStrike">
                <a:solidFill>
                  <a:srgbClr val="00A181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VP-wise sales contribution:</a:t>
            </a:r>
            <a:endParaRPr/>
          </a:p>
        </p:txBody>
      </p:sp>
      <p:sp>
        <p:nvSpPr>
          <p:cNvPr id="219" name="Google Shape;219;p9"/>
          <p:cNvSpPr txBox="1"/>
          <p:nvPr/>
        </p:nvSpPr>
        <p:spPr>
          <a:xfrm>
            <a:off x="416148" y="4001594"/>
            <a:ext cx="15275957" cy="1308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1468" lvl="1" marL="582936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Char char="•"/>
            </a:pPr>
            <a:r>
              <a:rPr b="0" i="0" lang="en-US" sz="27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Peter’s team: Drives most sales, but uneven across managers (Anthony, Keenan, Kim, Brittney).</a:t>
            </a:r>
            <a:endParaRPr/>
          </a:p>
          <a:p>
            <a:pPr indent="-291468" lvl="1" marL="582936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Char char="•"/>
            </a:pPr>
            <a:r>
              <a:rPr b="0" i="0" lang="en-US" sz="27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Kumar’s team: Moderate contribution, Jon drives more than Xiom. </a:t>
            </a:r>
            <a:endParaRPr/>
          </a:p>
          <a:p>
            <a:pPr indent="-291468" lvl="1" marL="582936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Char char="•"/>
            </a:pPr>
            <a:r>
              <a:rPr b="0" i="0" lang="en-US" sz="27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Sheela’s team: Consistent but smaller base (Gram, Rake).</a:t>
            </a:r>
            <a:endParaRPr/>
          </a:p>
        </p:txBody>
      </p:sp>
      <p:sp>
        <p:nvSpPr>
          <p:cNvPr id="220" name="Google Shape;220;p9"/>
          <p:cNvSpPr txBox="1"/>
          <p:nvPr/>
        </p:nvSpPr>
        <p:spPr>
          <a:xfrm>
            <a:off x="567044" y="5991881"/>
            <a:ext cx="1427917" cy="450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99" u="none" cap="none" strike="noStrike">
                <a:solidFill>
                  <a:srgbClr val="00A181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Insights</a:t>
            </a:r>
            <a:endParaRPr/>
          </a:p>
        </p:txBody>
      </p:sp>
      <p:sp>
        <p:nvSpPr>
          <p:cNvPr id="221" name="Google Shape;221;p9"/>
          <p:cNvSpPr txBox="1"/>
          <p:nvPr/>
        </p:nvSpPr>
        <p:spPr>
          <a:xfrm>
            <a:off x="5953542" y="9728297"/>
            <a:ext cx="6380917" cy="5587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28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Global Partners | Confidential Information | For Internal use only</a:t>
            </a:r>
            <a:endParaRPr/>
          </a:p>
          <a:p>
            <a:pPr indent="0" lvl="0" marL="0" marR="0" rtl="0" algn="ctr">
              <a:lnSpc>
                <a:spcPct val="1400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28" u="none" cap="none" strike="noStrike">
              <a:solidFill>
                <a:srgbClr val="A6A6A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16462576" y="301538"/>
            <a:ext cx="1462802" cy="684592"/>
          </a:xfrm>
          <a:custGeom>
            <a:rect b="b" l="l" r="r" t="t"/>
            <a:pathLst>
              <a:path extrusionOk="0" h="684592" w="1462802">
                <a:moveTo>
                  <a:pt x="0" y="0"/>
                </a:moveTo>
                <a:lnTo>
                  <a:pt x="1462803" y="0"/>
                </a:lnTo>
                <a:lnTo>
                  <a:pt x="1462803" y="684592"/>
                </a:lnTo>
                <a:lnTo>
                  <a:pt x="0" y="684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"/>
          <p:cNvSpPr/>
          <p:nvPr/>
        </p:nvSpPr>
        <p:spPr>
          <a:xfrm rot="10800000">
            <a:off x="12504366" y="6401574"/>
            <a:ext cx="7388722" cy="6398668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004651"/>
          </a:solidFill>
          <a:ln>
            <a:noFill/>
          </a:ln>
        </p:spPr>
      </p:sp>
      <p:sp>
        <p:nvSpPr>
          <p:cNvPr id="228" name="Google Shape;228;p10"/>
          <p:cNvSpPr/>
          <p:nvPr/>
        </p:nvSpPr>
        <p:spPr>
          <a:xfrm rot="10800000">
            <a:off x="15015514" y="1678860"/>
            <a:ext cx="5276948" cy="4569862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00A181"/>
          </a:solidFill>
          <a:ln>
            <a:noFill/>
          </a:ln>
        </p:spPr>
      </p:sp>
      <p:sp>
        <p:nvSpPr>
          <p:cNvPr id="229" name="Google Shape;229;p10"/>
          <p:cNvSpPr/>
          <p:nvPr/>
        </p:nvSpPr>
        <p:spPr>
          <a:xfrm>
            <a:off x="11620916" y="2647024"/>
            <a:ext cx="7212919" cy="6246063"/>
          </a:xfrm>
          <a:custGeom>
            <a:rect b="b" l="l" r="r" t="t"/>
            <a:pathLst>
              <a:path extrusionOk="0" h="3708400" w="4282440">
                <a:moveTo>
                  <a:pt x="3211830" y="0"/>
                </a:moveTo>
                <a:lnTo>
                  <a:pt x="1070610" y="0"/>
                </a:lnTo>
                <a:lnTo>
                  <a:pt x="0" y="1854200"/>
                </a:lnTo>
                <a:lnTo>
                  <a:pt x="1070610" y="3708400"/>
                </a:lnTo>
                <a:lnTo>
                  <a:pt x="3211830" y="3708400"/>
                </a:lnTo>
                <a:lnTo>
                  <a:pt x="4282440" y="18542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4944" r="-14943" t="0"/>
            </a:stretch>
          </a:blipFill>
          <a:ln>
            <a:noFill/>
          </a:ln>
        </p:spPr>
      </p:sp>
      <p:sp>
        <p:nvSpPr>
          <p:cNvPr id="230" name="Google Shape;230;p10"/>
          <p:cNvSpPr txBox="1"/>
          <p:nvPr/>
        </p:nvSpPr>
        <p:spPr>
          <a:xfrm>
            <a:off x="229131" y="1988584"/>
            <a:ext cx="8679468" cy="3574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6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2903" lvl="1" marL="545807" marR="0" rtl="0" algn="l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8"/>
              <a:buFont typeface="Arial"/>
              <a:buChar char="•"/>
            </a:pPr>
            <a:r>
              <a:rPr b="0" i="0" lang="en-US" sz="2528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Investigate April decline – demand issue vs. operational issue.</a:t>
            </a:r>
            <a:endParaRPr/>
          </a:p>
          <a:p>
            <a:pPr indent="-272903" lvl="1" marL="545807" marR="0" rtl="0" algn="l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8"/>
              <a:buFont typeface="Arial"/>
              <a:buChar char="•"/>
            </a:pPr>
            <a:r>
              <a:rPr b="0" i="0" lang="en-US" sz="2528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Double down on Snacks (volume) &amp; Lubricants/Fuel (profit).</a:t>
            </a:r>
            <a:endParaRPr/>
          </a:p>
          <a:p>
            <a:pPr indent="-272903" lvl="1" marL="545807" marR="0" rtl="0" algn="l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8"/>
              <a:buFont typeface="Arial"/>
              <a:buChar char="•"/>
            </a:pPr>
            <a:r>
              <a:rPr b="0" i="0" lang="en-US" sz="2528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Run regional campaigns in North/East to balance growth.</a:t>
            </a:r>
            <a:endParaRPr/>
          </a:p>
          <a:p>
            <a:pPr indent="0" lvl="0" marL="0" marR="0" rtl="0" algn="l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28" u="none" cap="none" strike="noStrik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1" name="Google Shape;231;p10"/>
          <p:cNvSpPr txBox="1"/>
          <p:nvPr/>
        </p:nvSpPr>
        <p:spPr>
          <a:xfrm>
            <a:off x="464532" y="430705"/>
            <a:ext cx="11316752" cy="926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124" u="none" cap="none" strike="noStrike">
                <a:solidFill>
                  <a:srgbClr val="A4E473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Recommendations &amp; Next Steps</a:t>
            </a:r>
            <a:endParaRPr/>
          </a:p>
        </p:txBody>
      </p:sp>
      <p:sp>
        <p:nvSpPr>
          <p:cNvPr id="232" name="Google Shape;232;p10"/>
          <p:cNvSpPr txBox="1"/>
          <p:nvPr/>
        </p:nvSpPr>
        <p:spPr>
          <a:xfrm>
            <a:off x="464532" y="1793321"/>
            <a:ext cx="4488468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none" cap="none" strike="noStrike">
                <a:solidFill>
                  <a:srgbClr val="00A181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Short-term actions:</a:t>
            </a:r>
            <a:endParaRPr/>
          </a:p>
        </p:txBody>
      </p:sp>
      <p:sp>
        <p:nvSpPr>
          <p:cNvPr id="233" name="Google Shape;233;p10"/>
          <p:cNvSpPr txBox="1"/>
          <p:nvPr/>
        </p:nvSpPr>
        <p:spPr>
          <a:xfrm>
            <a:off x="123218" y="6191572"/>
            <a:ext cx="8891294" cy="3126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6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2903" lvl="1" marL="545807" marR="0" rtl="0" algn="l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8"/>
              <a:buFont typeface="Arial"/>
              <a:buChar char="•"/>
            </a:pPr>
            <a:r>
              <a:rPr b="0" i="0" lang="en-US" sz="2528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Strengthen loyalty program → focus on converting Silver → Gold.</a:t>
            </a:r>
            <a:endParaRPr/>
          </a:p>
          <a:p>
            <a:pPr indent="-272903" lvl="1" marL="545807" marR="0" rtl="0" algn="l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8"/>
              <a:buFont typeface="Arial"/>
              <a:buChar char="•"/>
            </a:pPr>
            <a:r>
              <a:rPr b="0" i="0" lang="en-US" sz="2528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Develop management accountability frameworks – even distribution of performance.</a:t>
            </a:r>
            <a:endParaRPr/>
          </a:p>
          <a:p>
            <a:pPr indent="-272903" lvl="1" marL="545807" marR="0" rtl="0" algn="l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8"/>
              <a:buFont typeface="Arial"/>
              <a:buChar char="•"/>
            </a:pPr>
            <a:r>
              <a:rPr b="0" i="0" lang="en-US" sz="2528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Optimize product mix → defend high-margin categories while scaling top sellers.</a:t>
            </a:r>
            <a:endParaRPr/>
          </a:p>
        </p:txBody>
      </p:sp>
      <p:sp>
        <p:nvSpPr>
          <p:cNvPr id="234" name="Google Shape;234;p10"/>
          <p:cNvSpPr txBox="1"/>
          <p:nvPr/>
        </p:nvSpPr>
        <p:spPr>
          <a:xfrm>
            <a:off x="464532" y="5996309"/>
            <a:ext cx="4336068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none" cap="none" strike="noStrike">
                <a:solidFill>
                  <a:srgbClr val="00A181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Long-term actions:</a:t>
            </a:r>
            <a:endParaRPr/>
          </a:p>
        </p:txBody>
      </p:sp>
      <p:sp>
        <p:nvSpPr>
          <p:cNvPr id="235" name="Google Shape;235;p10"/>
          <p:cNvSpPr txBox="1"/>
          <p:nvPr/>
        </p:nvSpPr>
        <p:spPr>
          <a:xfrm>
            <a:off x="5953542" y="9728297"/>
            <a:ext cx="6380917" cy="5587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28" u="none" cap="none" strike="noStrik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Global Partners | Confidential Information | For Internal use only</a:t>
            </a:r>
            <a:endParaRPr/>
          </a:p>
          <a:p>
            <a:pPr indent="0" lvl="0" marL="0" marR="0" rtl="0" algn="ctr">
              <a:lnSpc>
                <a:spcPct val="1400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28" u="none" cap="none" strike="noStrike">
              <a:solidFill>
                <a:srgbClr val="A6A6A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16527899" y="551697"/>
            <a:ext cx="1462802" cy="684592"/>
          </a:xfrm>
          <a:custGeom>
            <a:rect b="b" l="l" r="r" t="t"/>
            <a:pathLst>
              <a:path extrusionOk="0" h="684592" w="1462802">
                <a:moveTo>
                  <a:pt x="0" y="0"/>
                </a:moveTo>
                <a:lnTo>
                  <a:pt x="1462802" y="0"/>
                </a:lnTo>
                <a:lnTo>
                  <a:pt x="1462802" y="684592"/>
                </a:lnTo>
                <a:lnTo>
                  <a:pt x="0" y="684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65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/>
          <p:cNvSpPr txBox="1"/>
          <p:nvPr/>
        </p:nvSpPr>
        <p:spPr>
          <a:xfrm>
            <a:off x="6031647" y="4274503"/>
            <a:ext cx="6224707" cy="1566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/>
          </a:p>
        </p:txBody>
      </p:sp>
      <p:sp>
        <p:nvSpPr>
          <p:cNvPr id="242" name="Google Shape;242;p11"/>
          <p:cNvSpPr/>
          <p:nvPr/>
        </p:nvSpPr>
        <p:spPr>
          <a:xfrm rot="-9053521">
            <a:off x="13487789" y="-478777"/>
            <a:ext cx="4099412" cy="3550110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F4F4F4"/>
          </a:solidFill>
          <a:ln>
            <a:noFill/>
          </a:ln>
        </p:spPr>
      </p:sp>
      <p:sp>
        <p:nvSpPr>
          <p:cNvPr id="243" name="Google Shape;243;p11"/>
          <p:cNvSpPr/>
          <p:nvPr/>
        </p:nvSpPr>
        <p:spPr>
          <a:xfrm rot="-9053521">
            <a:off x="15890393" y="2963307"/>
            <a:ext cx="2861765" cy="2478302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A4E473"/>
          </a:solidFill>
          <a:ln>
            <a:noFill/>
          </a:ln>
        </p:spPr>
      </p:sp>
      <p:sp>
        <p:nvSpPr>
          <p:cNvPr id="244" name="Google Shape;244;p11"/>
          <p:cNvSpPr/>
          <p:nvPr/>
        </p:nvSpPr>
        <p:spPr>
          <a:xfrm rot="-9053521">
            <a:off x="17452359" y="102121"/>
            <a:ext cx="1478923" cy="1280754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00A181"/>
          </a:solidFill>
          <a:ln>
            <a:noFill/>
          </a:ln>
        </p:spPr>
      </p:sp>
      <p:sp>
        <p:nvSpPr>
          <p:cNvPr id="245" name="Google Shape;245;p11"/>
          <p:cNvSpPr/>
          <p:nvPr/>
        </p:nvSpPr>
        <p:spPr>
          <a:xfrm rot="-9053521">
            <a:off x="13799712" y="2078124"/>
            <a:ext cx="2777961" cy="2405728"/>
          </a:xfrm>
          <a:custGeom>
            <a:rect b="b" l="l" r="r" t="t"/>
            <a:pathLst>
              <a:path extrusionOk="0" h="3134614" w="3619627">
                <a:moveTo>
                  <a:pt x="3619627" y="1567307"/>
                </a:moveTo>
                <a:lnTo>
                  <a:pt x="2714752" y="3134614"/>
                </a:lnTo>
                <a:lnTo>
                  <a:pt x="904875" y="3134614"/>
                </a:lnTo>
                <a:lnTo>
                  <a:pt x="0" y="1567307"/>
                </a:lnTo>
                <a:lnTo>
                  <a:pt x="904875" y="0"/>
                </a:lnTo>
                <a:lnTo>
                  <a:pt x="2714625" y="0"/>
                </a:lnTo>
                <a:lnTo>
                  <a:pt x="3619627" y="1567307"/>
                </a:lnTo>
                <a:close/>
              </a:path>
            </a:pathLst>
          </a:custGeom>
          <a:solidFill>
            <a:srgbClr val="00A181"/>
          </a:solidFill>
          <a:ln>
            <a:noFill/>
          </a:ln>
        </p:spPr>
      </p:sp>
      <p:grpSp>
        <p:nvGrpSpPr>
          <p:cNvPr id="246" name="Google Shape;246;p11"/>
          <p:cNvGrpSpPr/>
          <p:nvPr/>
        </p:nvGrpSpPr>
        <p:grpSpPr>
          <a:xfrm rot="-3661664">
            <a:off x="-2087472" y="6330660"/>
            <a:ext cx="6452816" cy="5522023"/>
            <a:chOff x="0" y="0"/>
            <a:chExt cx="8603755" cy="7362698"/>
          </a:xfrm>
        </p:grpSpPr>
        <p:sp>
          <p:nvSpPr>
            <p:cNvPr id="247" name="Google Shape;247;p11"/>
            <p:cNvSpPr/>
            <p:nvPr/>
          </p:nvSpPr>
          <p:spPr>
            <a:xfrm rot="10800000">
              <a:off x="0" y="853836"/>
              <a:ext cx="5465883" cy="4733480"/>
            </a:xfrm>
            <a:custGeom>
              <a:rect b="b" l="l" r="r" t="t"/>
              <a:pathLst>
                <a:path extrusionOk="0"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</p:sp>
        <p:sp>
          <p:nvSpPr>
            <p:cNvPr id="248" name="Google Shape;248;p11"/>
            <p:cNvSpPr/>
            <p:nvPr/>
          </p:nvSpPr>
          <p:spPr>
            <a:xfrm rot="10800000">
              <a:off x="4788069" y="3796922"/>
              <a:ext cx="3815686" cy="3304402"/>
            </a:xfrm>
            <a:custGeom>
              <a:rect b="b" l="l" r="r" t="t"/>
              <a:pathLst>
                <a:path extrusionOk="0"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A4E473"/>
            </a:solidFill>
            <a:ln>
              <a:noFill/>
            </a:ln>
          </p:spPr>
        </p:sp>
        <p:sp>
          <p:nvSpPr>
            <p:cNvPr id="249" name="Google Shape;249;p11"/>
            <p:cNvSpPr/>
            <p:nvPr/>
          </p:nvSpPr>
          <p:spPr>
            <a:xfrm rot="10800000">
              <a:off x="4479934" y="0"/>
              <a:ext cx="1971898" cy="1707673"/>
            </a:xfrm>
            <a:custGeom>
              <a:rect b="b" l="l" r="r" t="t"/>
              <a:pathLst>
                <a:path extrusionOk="0"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  <a:ln>
              <a:noFill/>
            </a:ln>
          </p:spPr>
        </p:sp>
        <p:sp>
          <p:nvSpPr>
            <p:cNvPr id="250" name="Google Shape;250;p11"/>
            <p:cNvSpPr/>
            <p:nvPr/>
          </p:nvSpPr>
          <p:spPr>
            <a:xfrm rot="10800000">
              <a:off x="1761934" y="4155061"/>
              <a:ext cx="3703948" cy="3207637"/>
            </a:xfrm>
            <a:custGeom>
              <a:rect b="b" l="l" r="r" t="t"/>
              <a:pathLst>
                <a:path extrusionOk="0"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00A181"/>
            </a:solidFill>
            <a:ln>
              <a:noFill/>
            </a:ln>
          </p:spPr>
        </p:sp>
      </p:grpSp>
      <p:sp>
        <p:nvSpPr>
          <p:cNvPr id="251" name="Google Shape;251;p11"/>
          <p:cNvSpPr/>
          <p:nvPr/>
        </p:nvSpPr>
        <p:spPr>
          <a:xfrm>
            <a:off x="14806094" y="953982"/>
            <a:ext cx="1462802" cy="684592"/>
          </a:xfrm>
          <a:custGeom>
            <a:rect b="b" l="l" r="r" t="t"/>
            <a:pathLst>
              <a:path extrusionOk="0" h="684592" w="1462802">
                <a:moveTo>
                  <a:pt x="0" y="0"/>
                </a:moveTo>
                <a:lnTo>
                  <a:pt x="1462802" y="0"/>
                </a:lnTo>
                <a:lnTo>
                  <a:pt x="1462802" y="684592"/>
                </a:lnTo>
                <a:lnTo>
                  <a:pt x="0" y="684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ADMIN</dc:creator>
</cp:coreProperties>
</file>